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161B92-6C5A-E997-E248-01E3D87863D1}" v="569" dt="2025-11-02T13:05:06.2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761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890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116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7837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17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4453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21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667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15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823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7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11/2/2025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4304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528">
          <p15:clr>
            <a:srgbClr val="F26B43"/>
          </p15:clr>
        </p15:guide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319120" y="745440"/>
            <a:ext cx="11502199" cy="3559859"/>
          </a:xfrm>
        </p:spPr>
        <p:txBody>
          <a:bodyPr/>
          <a:lstStyle/>
          <a:p>
            <a:r>
              <a:rPr lang="tr-TR" dirty="0"/>
              <a:t>Sosyal Medyada</a:t>
            </a:r>
            <a:br>
              <a:rPr lang="tr-TR" dirty="0"/>
            </a:br>
            <a:r>
              <a:rPr lang="tr-TR" dirty="0"/>
              <a:t>Çocuk</a:t>
            </a:r>
            <a:br>
              <a:rPr lang="tr-TR" dirty="0"/>
            </a:br>
            <a:r>
              <a:rPr lang="tr-TR" dirty="0"/>
              <a:t>Güvenliği</a:t>
            </a:r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 sz="1800" dirty="0"/>
              <a:t>Muhammed Burak Aksu</a:t>
            </a:r>
          </a:p>
          <a:p>
            <a:r>
              <a:rPr lang="tr-TR" sz="1800" dirty="0"/>
              <a:t>360125013</a:t>
            </a:r>
          </a:p>
        </p:txBody>
      </p:sp>
    </p:spTree>
    <p:extLst>
      <p:ext uri="{BB962C8B-B14F-4D97-AF65-F5344CB8AC3E}">
        <p14:creationId xmlns:p14="http://schemas.microsoft.com/office/powerpoint/2010/main" val="1674425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9C864D-A752-D8B6-625D-04A1CCFE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Konu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5FA959C-756A-5E7B-C489-7F351462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000" dirty="0">
                <a:latin typeface="Aptos Display"/>
              </a:rPr>
              <a:t>Sosyal medyada çocukların karşısına uygunsuz içerikler çıkması, bunun çocuk psikolojisine etkisi araştırılacaktır.</a:t>
            </a:r>
          </a:p>
          <a:p>
            <a:r>
              <a:rPr lang="tr-TR" sz="2000">
                <a:latin typeface="Aptos Display"/>
              </a:rPr>
              <a:t>Bu konunun önemli olma sebebi: Sosyal medyanın yaygınlaşmasıyla çocukların sosyal medya kullanım süreleri artmıştır. Bu durum çocukların istenmeyen uygunsuz içeriklere maruz kalmalarına bu da psikolojik gelişimlerinde olumsuzluklar ortaya çıkmasına sebep olmuştur. </a:t>
            </a:r>
            <a:endParaRPr lang="tr-TR" sz="2000" dirty="0">
              <a:latin typeface="Aptos Display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DA03784-8D6A-C49F-32EA-911E8A064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4BFC5-1283-4FA8-BBA6-51727E504D4B}" type="datetime1">
              <a:t>11/2/2025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81A86FA-F8B9-7AAC-82BD-7031381FD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982D1ED-1303-3F14-1309-EC59C52C7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473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B8082C-A55B-4330-165B-E93C28C9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Anahtar Kelimeler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0086331-77BE-41DC-75E9-5B51D177C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tr-TR" sz="2200" dirty="0">
                <a:latin typeface="Aptos Display"/>
              </a:rPr>
              <a:t>"Algoritma, Çocuk Psikolojisi, Sosyal Medya, Ebeveyn Kontrolü"</a:t>
            </a:r>
          </a:p>
          <a:p>
            <a:r>
              <a:rPr lang="tr-TR" sz="2200" dirty="0">
                <a:latin typeface="Aptos Display"/>
                <a:ea typeface="+mn-lt"/>
                <a:cs typeface="+mn-lt"/>
              </a:rPr>
              <a:t>Algoritma: kullanıcının ilgisine, beğenilerine, geçmiş etkileşimlerine göre içerikleri sıralayan bir sistemdir. Algoritmanın amacı, kullanıcının platformda daha uzun süre kalmasını ve daha çok etkileşimde bulunmasını sağlamaktır.</a:t>
            </a:r>
            <a:endParaRPr lang="tr-TR" sz="2200" dirty="0">
              <a:latin typeface="Aptos Display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EC379F0-CDA3-B8C2-665A-45447191C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AF547-4156-43C6-9AE7-56D47E9B36AF}" type="datetime1">
              <a:t>11/2/2025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53BCEDE-2369-747D-FD17-E90313D5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36F2689-6BA1-7706-C076-F2C062607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746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BA43A1-B756-33F7-B45E-AA643EF96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87" y="-2098"/>
            <a:ext cx="9956747" cy="1438780"/>
          </a:xfrm>
        </p:spPr>
        <p:txBody>
          <a:bodyPr/>
          <a:lstStyle/>
          <a:p>
            <a:r>
              <a:rPr lang="tr-TR" dirty="0"/>
              <a:t>Literatür taraması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0616C0-1156-3362-25A4-A18E8FF79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1709881"/>
            <a:ext cx="9956747" cy="5762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 dirty="0" err="1">
                <a:ea typeface="+mn-lt"/>
                <a:cs typeface="+mn-lt"/>
              </a:rPr>
              <a:t>The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Use</a:t>
            </a:r>
            <a:r>
              <a:rPr lang="tr-TR" dirty="0">
                <a:ea typeface="+mn-lt"/>
                <a:cs typeface="+mn-lt"/>
              </a:rPr>
              <a:t> of </a:t>
            </a:r>
            <a:r>
              <a:rPr lang="tr-TR" dirty="0" err="1">
                <a:ea typeface="+mn-lt"/>
                <a:cs typeface="+mn-lt"/>
              </a:rPr>
              <a:t>Social</a:t>
            </a:r>
            <a:r>
              <a:rPr lang="tr-TR" dirty="0">
                <a:ea typeface="+mn-lt"/>
                <a:cs typeface="+mn-lt"/>
              </a:rPr>
              <a:t> Media in </a:t>
            </a:r>
            <a:r>
              <a:rPr lang="tr-TR" dirty="0" err="1">
                <a:ea typeface="+mn-lt"/>
                <a:cs typeface="+mn-lt"/>
              </a:rPr>
              <a:t>Children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Adolescents</a:t>
            </a:r>
            <a:r>
              <a:rPr lang="tr-TR" dirty="0">
                <a:ea typeface="+mn-lt"/>
                <a:cs typeface="+mn-lt"/>
              </a:rPr>
              <a:t> — E. </a:t>
            </a:r>
            <a:r>
              <a:rPr lang="tr-TR" dirty="0" err="1">
                <a:ea typeface="+mn-lt"/>
                <a:cs typeface="+mn-lt"/>
              </a:rPr>
              <a:t>Bozzola</a:t>
            </a:r>
            <a:r>
              <a:rPr lang="tr-TR" dirty="0">
                <a:ea typeface="+mn-lt"/>
                <a:cs typeface="+mn-lt"/>
              </a:rPr>
              <a:t> (2022)</a:t>
            </a:r>
            <a:endParaRPr lang="tr-TR" dirty="0">
              <a:solidFill>
                <a:srgbClr val="FFFFFF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(Sosyal medya kullanımının çocuk ve ergenler üzerindeki psikolojik sonuçları)</a:t>
            </a:r>
          </a:p>
          <a:p>
            <a:r>
              <a:rPr lang="tr-TR" dirty="0">
                <a:ea typeface="+mn-lt"/>
                <a:cs typeface="+mn-lt"/>
              </a:rPr>
              <a:t> </a:t>
            </a:r>
            <a:r>
              <a:rPr lang="tr-TR" err="1">
                <a:ea typeface="+mn-lt"/>
                <a:cs typeface="+mn-lt"/>
              </a:rPr>
              <a:t>Problematic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social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media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use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err="1">
                <a:ea typeface="+mn-lt"/>
                <a:cs typeface="+mn-lt"/>
              </a:rPr>
              <a:t>childhood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err="1">
                <a:ea typeface="+mn-lt"/>
                <a:cs typeface="+mn-lt"/>
              </a:rPr>
              <a:t>adolescence</a:t>
            </a:r>
            <a:r>
              <a:rPr lang="tr-TR" dirty="0">
                <a:ea typeface="+mn-lt"/>
                <a:cs typeface="+mn-lt"/>
              </a:rPr>
              <a:t> — C. </a:t>
            </a:r>
            <a:r>
              <a:rPr lang="tr-TR" err="1">
                <a:ea typeface="+mn-lt"/>
                <a:cs typeface="+mn-lt"/>
              </a:rPr>
              <a:t>Montag</a:t>
            </a:r>
            <a:r>
              <a:rPr lang="tr-TR" dirty="0">
                <a:ea typeface="+mn-lt"/>
                <a:cs typeface="+mn-lt"/>
              </a:rPr>
              <a:t> (2024) </a:t>
            </a:r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(Sosyal medyanın kontrolsüz kullanımının ruh sağlığına etkisi)</a:t>
            </a:r>
          </a:p>
          <a:p>
            <a:r>
              <a:rPr lang="tr-TR" dirty="0">
                <a:ea typeface="+mn-lt"/>
                <a:cs typeface="+mn-lt"/>
              </a:rPr>
              <a:t>Online </a:t>
            </a:r>
            <a:r>
              <a:rPr lang="tr-TR" dirty="0" err="1">
                <a:ea typeface="+mn-lt"/>
                <a:cs typeface="+mn-lt"/>
              </a:rPr>
              <a:t>risks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parental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mediation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dirty="0" err="1">
                <a:ea typeface="+mn-lt"/>
                <a:cs typeface="+mn-lt"/>
              </a:rPr>
              <a:t>social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media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usage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among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children</a:t>
            </a:r>
            <a:r>
              <a:rPr lang="tr-TR" dirty="0">
                <a:ea typeface="+mn-lt"/>
                <a:cs typeface="+mn-lt"/>
              </a:rPr>
              <a:t> — E. </a:t>
            </a:r>
            <a:r>
              <a:rPr lang="tr-TR" dirty="0" err="1">
                <a:ea typeface="+mn-lt"/>
                <a:cs typeface="+mn-lt"/>
              </a:rPr>
              <a:t>Youssef</a:t>
            </a:r>
            <a:r>
              <a:rPr lang="tr-TR" dirty="0">
                <a:ea typeface="+mn-lt"/>
                <a:cs typeface="+mn-lt"/>
              </a:rPr>
              <a:t> (2025) </a:t>
            </a:r>
          </a:p>
          <a:p>
            <a:pPr marL="0" indent="0">
              <a:buNone/>
            </a:pPr>
            <a:r>
              <a:rPr lang="tr-TR" dirty="0"/>
              <a:t>(Çocukların sosyal medya kullanımında maruz kalma yoğunluğu)</a:t>
            </a:r>
          </a:p>
          <a:p>
            <a:r>
              <a:rPr lang="tr-TR" dirty="0" err="1">
                <a:ea typeface="+mn-lt"/>
                <a:cs typeface="+mn-lt"/>
              </a:rPr>
              <a:t>Hiding</a:t>
            </a:r>
            <a:r>
              <a:rPr lang="tr-TR" dirty="0">
                <a:ea typeface="+mn-lt"/>
                <a:cs typeface="+mn-lt"/>
              </a:rPr>
              <a:t> in </a:t>
            </a:r>
            <a:r>
              <a:rPr lang="tr-TR" dirty="0" err="1">
                <a:ea typeface="+mn-lt"/>
                <a:cs typeface="+mn-lt"/>
              </a:rPr>
              <a:t>Plain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Sight</a:t>
            </a:r>
            <a:r>
              <a:rPr lang="tr-TR" dirty="0">
                <a:ea typeface="+mn-lt"/>
                <a:cs typeface="+mn-lt"/>
              </a:rPr>
              <a:t>: A </a:t>
            </a:r>
            <a:r>
              <a:rPr lang="tr-TR" dirty="0" err="1">
                <a:ea typeface="+mn-lt"/>
                <a:cs typeface="+mn-lt"/>
              </a:rPr>
              <a:t>Measurement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and</a:t>
            </a:r>
            <a:r>
              <a:rPr lang="tr-TR" dirty="0">
                <a:ea typeface="+mn-lt"/>
                <a:cs typeface="+mn-lt"/>
              </a:rPr>
              <a:t> Analysis of Kids' </a:t>
            </a:r>
            <a:r>
              <a:rPr lang="tr-TR" dirty="0" err="1">
                <a:ea typeface="+mn-lt"/>
                <a:cs typeface="+mn-lt"/>
              </a:rPr>
              <a:t>Exposure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to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Malicious</a:t>
            </a:r>
            <a:r>
              <a:rPr lang="tr-TR" dirty="0">
                <a:ea typeface="+mn-lt"/>
                <a:cs typeface="+mn-lt"/>
              </a:rPr>
              <a:t> </a:t>
            </a:r>
            <a:r>
              <a:rPr lang="tr-TR" dirty="0" err="1">
                <a:ea typeface="+mn-lt"/>
                <a:cs typeface="+mn-lt"/>
              </a:rPr>
              <a:t>URLs</a:t>
            </a:r>
            <a:r>
              <a:rPr lang="tr-TR" dirty="0">
                <a:ea typeface="+mn-lt"/>
                <a:cs typeface="+mn-lt"/>
              </a:rPr>
              <a:t> on YouTube — Sultan </a:t>
            </a:r>
            <a:r>
              <a:rPr lang="tr-TR" dirty="0" err="1">
                <a:ea typeface="+mn-lt"/>
                <a:cs typeface="+mn-lt"/>
              </a:rPr>
              <a:t>Alshamrani</a:t>
            </a:r>
            <a:r>
              <a:rPr lang="tr-TR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tr-TR" dirty="0">
                <a:ea typeface="+mn-lt"/>
                <a:cs typeface="+mn-lt"/>
              </a:rPr>
              <a:t>Ahmed </a:t>
            </a:r>
            <a:r>
              <a:rPr lang="tr-TR" dirty="0" err="1">
                <a:ea typeface="+mn-lt"/>
                <a:cs typeface="+mn-lt"/>
              </a:rPr>
              <a:t>Abusnaina</a:t>
            </a:r>
            <a:r>
              <a:rPr lang="tr-TR" dirty="0">
                <a:solidFill>
                  <a:srgbClr val="FFFFFF"/>
                </a:solidFill>
                <a:ea typeface="+mn-lt"/>
                <a:cs typeface="+mn-lt"/>
              </a:rPr>
              <a:t>, </a:t>
            </a:r>
            <a:r>
              <a:rPr lang="tr-TR" dirty="0">
                <a:ea typeface="+mn-lt"/>
                <a:cs typeface="+mn-lt"/>
              </a:rPr>
              <a:t>David </a:t>
            </a:r>
            <a:r>
              <a:rPr lang="tr-TR" dirty="0" err="1">
                <a:ea typeface="+mn-lt"/>
                <a:cs typeface="+mn-lt"/>
              </a:rPr>
              <a:t>Mohaisen</a:t>
            </a:r>
            <a:r>
              <a:rPr lang="tr-TR" dirty="0">
                <a:ea typeface="+mn-lt"/>
                <a:cs typeface="+mn-lt"/>
              </a:rPr>
              <a:t> (2020) </a:t>
            </a:r>
          </a:p>
          <a:p>
            <a:pPr marL="0" indent="0">
              <a:buNone/>
            </a:pPr>
            <a:r>
              <a:rPr lang="tr-TR" dirty="0">
                <a:ea typeface="+mn-lt"/>
                <a:cs typeface="+mn-lt"/>
              </a:rPr>
              <a:t>(Çocukların yalnızca video içeriğiyle değil, yorumlardaki yönlendirmelerle de zarara açık olduğu)</a:t>
            </a:r>
          </a:p>
          <a:p>
            <a:pPr marL="0" indent="0">
              <a:buNone/>
            </a:pPr>
            <a:endParaRPr lang="tr-TR" dirty="0">
              <a:ea typeface="+mn-lt"/>
              <a:cs typeface="+mn-lt"/>
            </a:endParaRP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2B16E09-8799-37E0-924C-FE6B27999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689861-A63E-49F2-9426-2B6CB601D24B}" type="datetime1">
              <a:t>11/2/2025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4FE9CAC-D304-A44B-AF60-E17141607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656EAF7-510C-7F5C-A90C-4B6E1D761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0607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02FEF8-E788-7F75-2DDE-8B6358AD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87" y="-319598"/>
            <a:ext cx="9956747" cy="1438780"/>
          </a:xfrm>
        </p:spPr>
        <p:txBody>
          <a:bodyPr/>
          <a:lstStyle/>
          <a:p>
            <a:r>
              <a:rPr lang="tr-TR" dirty="0"/>
              <a:t>Kaynakça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2474ABA-B4E4-CC54-A9A9-1370505B2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467" y="1278081"/>
            <a:ext cx="9956747" cy="5521181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lnSpc>
                <a:spcPct val="100000"/>
              </a:lnSpc>
            </a:pPr>
            <a:r>
              <a:rPr lang="tr-TR" dirty="0"/>
              <a:t>E. </a:t>
            </a:r>
            <a:r>
              <a:rPr lang="tr-TR" dirty="0" err="1"/>
              <a:t>Bozzola</a:t>
            </a:r>
            <a:r>
              <a:rPr lang="tr-TR" dirty="0"/>
              <a:t>, M. </a:t>
            </a:r>
            <a:r>
              <a:rPr lang="tr-TR" dirty="0" err="1"/>
              <a:t>Spina</a:t>
            </a:r>
            <a:r>
              <a:rPr lang="tr-TR" dirty="0"/>
              <a:t>, S. </a:t>
            </a:r>
            <a:r>
              <a:rPr lang="tr-TR" dirty="0" err="1"/>
              <a:t>Agostiniani</a:t>
            </a:r>
            <a:r>
              <a:rPr lang="tr-TR" dirty="0"/>
              <a:t>, G. </a:t>
            </a:r>
            <a:r>
              <a:rPr lang="tr-TR" dirty="0" err="1"/>
              <a:t>Barni</a:t>
            </a:r>
            <a:r>
              <a:rPr lang="tr-TR" dirty="0"/>
              <a:t>, ve G. </a:t>
            </a:r>
            <a:r>
              <a:rPr lang="tr-TR" dirty="0" err="1"/>
              <a:t>Villani</a:t>
            </a:r>
            <a:r>
              <a:rPr lang="tr-TR" dirty="0"/>
              <a:t>, “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Use</a:t>
            </a:r>
            <a:r>
              <a:rPr lang="tr-TR" dirty="0"/>
              <a:t> of </a:t>
            </a:r>
            <a:r>
              <a:rPr lang="tr-TR" dirty="0" err="1"/>
              <a:t>Social</a:t>
            </a:r>
            <a:r>
              <a:rPr lang="tr-TR" dirty="0"/>
              <a:t> Media in </a:t>
            </a:r>
            <a:r>
              <a:rPr lang="tr-TR" dirty="0" err="1"/>
              <a:t>Children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Adolescents</a:t>
            </a:r>
            <a:r>
              <a:rPr lang="tr-TR" dirty="0"/>
              <a:t>,” </a:t>
            </a:r>
            <a:r>
              <a:rPr lang="tr-TR" dirty="0" err="1"/>
              <a:t>Italian</a:t>
            </a:r>
            <a:r>
              <a:rPr lang="tr-TR" dirty="0"/>
              <a:t> </a:t>
            </a:r>
            <a:r>
              <a:rPr lang="tr-TR" dirty="0" err="1"/>
              <a:t>Journal</a:t>
            </a:r>
            <a:r>
              <a:rPr lang="tr-TR" dirty="0"/>
              <a:t> of </a:t>
            </a:r>
            <a:r>
              <a:rPr lang="tr-TR" dirty="0" err="1"/>
              <a:t>Pediatrics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48, </a:t>
            </a:r>
            <a:r>
              <a:rPr lang="tr-TR" dirty="0" err="1"/>
              <a:t>no</a:t>
            </a:r>
            <a:r>
              <a:rPr lang="tr-TR" dirty="0"/>
              <a:t>. 1, p. 75, 2022.</a:t>
            </a:r>
          </a:p>
          <a:p>
            <a:pPr>
              <a:lnSpc>
                <a:spcPct val="100000"/>
              </a:lnSpc>
            </a:pPr>
            <a:r>
              <a:rPr lang="tr-TR" dirty="0"/>
              <a:t>C. </a:t>
            </a:r>
            <a:r>
              <a:rPr lang="tr-TR" dirty="0" err="1"/>
              <a:t>Montag</a:t>
            </a:r>
            <a:r>
              <a:rPr lang="tr-TR" dirty="0"/>
              <a:t>, “</a:t>
            </a:r>
            <a:r>
              <a:rPr lang="tr-TR" dirty="0" err="1"/>
              <a:t>Problematic</a:t>
            </a:r>
            <a:r>
              <a:rPr lang="tr-TR" dirty="0"/>
              <a:t> </a:t>
            </a:r>
            <a:r>
              <a:rPr lang="tr-TR" dirty="0" err="1"/>
              <a:t>Social</a:t>
            </a:r>
            <a:r>
              <a:rPr lang="tr-TR" dirty="0"/>
              <a:t> Media </a:t>
            </a:r>
            <a:r>
              <a:rPr lang="tr-TR" dirty="0" err="1"/>
              <a:t>Use</a:t>
            </a:r>
            <a:r>
              <a:rPr lang="tr-TR" dirty="0"/>
              <a:t> in </a:t>
            </a:r>
            <a:r>
              <a:rPr lang="tr-TR" dirty="0" err="1"/>
              <a:t>Childhood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Adolescence</a:t>
            </a:r>
            <a:r>
              <a:rPr lang="tr-TR" dirty="0"/>
              <a:t>,” </a:t>
            </a:r>
            <a:r>
              <a:rPr lang="tr-TR" dirty="0" err="1"/>
              <a:t>Current</a:t>
            </a:r>
            <a:r>
              <a:rPr lang="tr-TR" dirty="0"/>
              <a:t> </a:t>
            </a:r>
            <a:r>
              <a:rPr lang="tr-TR" dirty="0" err="1"/>
              <a:t>Opinion</a:t>
            </a:r>
            <a:r>
              <a:rPr lang="tr-TR" dirty="0"/>
              <a:t> in </a:t>
            </a:r>
            <a:r>
              <a:rPr lang="tr-TR" dirty="0" err="1"/>
              <a:t>Psychology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58, 2024.</a:t>
            </a:r>
          </a:p>
          <a:p>
            <a:pPr>
              <a:lnSpc>
                <a:spcPct val="100000"/>
              </a:lnSpc>
            </a:pPr>
            <a:r>
              <a:rPr lang="tr-TR" dirty="0"/>
              <a:t>E. </a:t>
            </a:r>
            <a:r>
              <a:rPr lang="tr-TR" dirty="0" err="1"/>
              <a:t>Youssef</a:t>
            </a:r>
            <a:r>
              <a:rPr lang="tr-TR" dirty="0"/>
              <a:t>, L. De </a:t>
            </a:r>
            <a:r>
              <a:rPr lang="tr-TR" dirty="0" err="1"/>
              <a:t>Moor</a:t>
            </a:r>
            <a:r>
              <a:rPr lang="tr-TR" dirty="0"/>
              <a:t>, J. De </a:t>
            </a:r>
            <a:r>
              <a:rPr lang="tr-TR" dirty="0" err="1"/>
              <a:t>Marez</a:t>
            </a:r>
            <a:r>
              <a:rPr lang="tr-TR" dirty="0"/>
              <a:t>, ve S. </a:t>
            </a:r>
            <a:r>
              <a:rPr lang="tr-TR" dirty="0" err="1"/>
              <a:t>Vandebosch</a:t>
            </a:r>
            <a:r>
              <a:rPr lang="tr-TR" dirty="0"/>
              <a:t>, “Online </a:t>
            </a:r>
            <a:r>
              <a:rPr lang="tr-TR" dirty="0" err="1"/>
              <a:t>Risks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Parental</a:t>
            </a:r>
            <a:r>
              <a:rPr lang="tr-TR" dirty="0"/>
              <a:t> </a:t>
            </a:r>
            <a:r>
              <a:rPr lang="tr-TR" dirty="0" err="1"/>
              <a:t>Mediation</a:t>
            </a:r>
            <a:r>
              <a:rPr lang="tr-TR" dirty="0"/>
              <a:t> in </a:t>
            </a:r>
            <a:r>
              <a:rPr lang="tr-TR" dirty="0" err="1"/>
              <a:t>Social</a:t>
            </a:r>
            <a:r>
              <a:rPr lang="tr-TR" dirty="0"/>
              <a:t> Media </a:t>
            </a:r>
            <a:r>
              <a:rPr lang="tr-TR" dirty="0" err="1"/>
              <a:t>Usage</a:t>
            </a:r>
            <a:r>
              <a:rPr lang="tr-TR" dirty="0"/>
              <a:t> </a:t>
            </a:r>
            <a:r>
              <a:rPr lang="tr-TR" dirty="0" err="1"/>
              <a:t>among</a:t>
            </a:r>
            <a:r>
              <a:rPr lang="tr-TR" dirty="0"/>
              <a:t> </a:t>
            </a:r>
            <a:r>
              <a:rPr lang="tr-TR" dirty="0" err="1"/>
              <a:t>Children</a:t>
            </a:r>
            <a:r>
              <a:rPr lang="tr-TR" dirty="0"/>
              <a:t>,” </a:t>
            </a:r>
            <a:r>
              <a:rPr lang="tr-TR" dirty="0" err="1"/>
              <a:t>Telematics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Informatics</a:t>
            </a:r>
            <a:r>
              <a:rPr lang="tr-TR" dirty="0"/>
              <a:t> </a:t>
            </a:r>
            <a:r>
              <a:rPr lang="tr-TR" dirty="0" err="1"/>
              <a:t>Reports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15, 2025.</a:t>
            </a:r>
          </a:p>
          <a:p>
            <a:pPr>
              <a:lnSpc>
                <a:spcPct val="100000"/>
              </a:lnSpc>
            </a:pPr>
            <a:r>
              <a:rPr lang="tr-TR" dirty="0"/>
              <a:t>A. </a:t>
            </a:r>
            <a:r>
              <a:rPr lang="tr-TR" dirty="0" err="1"/>
              <a:t>Alshamrani</a:t>
            </a:r>
            <a:r>
              <a:rPr lang="tr-TR" dirty="0"/>
              <a:t>, P. Gill, ve A. Kumar, “</a:t>
            </a:r>
            <a:r>
              <a:rPr lang="tr-TR" dirty="0" err="1"/>
              <a:t>Hiding</a:t>
            </a:r>
            <a:r>
              <a:rPr lang="tr-TR" dirty="0"/>
              <a:t> in </a:t>
            </a:r>
            <a:r>
              <a:rPr lang="tr-TR" dirty="0" err="1"/>
              <a:t>Plain</a:t>
            </a:r>
            <a:r>
              <a:rPr lang="tr-TR" dirty="0"/>
              <a:t> </a:t>
            </a:r>
            <a:r>
              <a:rPr lang="tr-TR" dirty="0" err="1"/>
              <a:t>Sight</a:t>
            </a:r>
            <a:r>
              <a:rPr lang="tr-TR" dirty="0"/>
              <a:t>: A </a:t>
            </a:r>
            <a:r>
              <a:rPr lang="tr-TR" dirty="0" err="1"/>
              <a:t>Measurement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Analysis of Kids' </a:t>
            </a:r>
            <a:r>
              <a:rPr lang="tr-TR" dirty="0" err="1"/>
              <a:t>Exposure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Malicious</a:t>
            </a:r>
            <a:r>
              <a:rPr lang="tr-TR" dirty="0"/>
              <a:t> </a:t>
            </a:r>
            <a:r>
              <a:rPr lang="tr-TR" dirty="0" err="1"/>
              <a:t>URLs</a:t>
            </a:r>
            <a:r>
              <a:rPr lang="tr-TR" dirty="0"/>
              <a:t> on YouTube,” in </a:t>
            </a:r>
            <a:r>
              <a:rPr lang="tr-TR" dirty="0" err="1"/>
              <a:t>Proceedings</a:t>
            </a:r>
            <a:r>
              <a:rPr lang="tr-TR" dirty="0"/>
              <a:t> of </a:t>
            </a:r>
            <a:r>
              <a:rPr lang="tr-TR" dirty="0" err="1"/>
              <a:t>the</a:t>
            </a:r>
            <a:r>
              <a:rPr lang="tr-TR" dirty="0"/>
              <a:t> ACM Internet </a:t>
            </a:r>
            <a:r>
              <a:rPr lang="tr-TR" dirty="0" err="1"/>
              <a:t>Measurement</a:t>
            </a:r>
            <a:r>
              <a:rPr lang="tr-TR" dirty="0"/>
              <a:t> Conference (IMC), 2020, </a:t>
            </a:r>
            <a:r>
              <a:rPr lang="tr-TR" dirty="0" err="1"/>
              <a:t>pp</a:t>
            </a:r>
            <a:r>
              <a:rPr lang="tr-TR" dirty="0"/>
              <a:t>. 441–455.</a:t>
            </a:r>
          </a:p>
          <a:p>
            <a:pPr>
              <a:lnSpc>
                <a:spcPct val="100000"/>
              </a:lnSpc>
            </a:pPr>
            <a:r>
              <a:rPr lang="tr-TR" dirty="0"/>
              <a:t>J. </a:t>
            </a:r>
            <a:r>
              <a:rPr lang="tr-TR" dirty="0" err="1"/>
              <a:t>Xue</a:t>
            </a:r>
            <a:r>
              <a:rPr lang="tr-TR" dirty="0"/>
              <a:t>, M. </a:t>
            </a:r>
            <a:r>
              <a:rPr lang="tr-TR" dirty="0" err="1"/>
              <a:t>Papadopoulou</a:t>
            </a:r>
            <a:r>
              <a:rPr lang="tr-TR" dirty="0"/>
              <a:t>, A. </a:t>
            </a:r>
            <a:r>
              <a:rPr lang="tr-TR" dirty="0" err="1"/>
              <a:t>Rodrigues</a:t>
            </a:r>
            <a:r>
              <a:rPr lang="tr-TR" dirty="0"/>
              <a:t>, ve P. Gill, “</a:t>
            </a:r>
            <a:r>
              <a:rPr lang="tr-TR" dirty="0" err="1"/>
              <a:t>Catching</a:t>
            </a:r>
            <a:r>
              <a:rPr lang="tr-TR" dirty="0"/>
              <a:t> Dark </a:t>
            </a:r>
            <a:r>
              <a:rPr lang="tr-TR" dirty="0" err="1"/>
              <a:t>Signals</a:t>
            </a:r>
            <a:r>
              <a:rPr lang="tr-TR" dirty="0"/>
              <a:t> in </a:t>
            </a:r>
            <a:r>
              <a:rPr lang="tr-TR" dirty="0" err="1"/>
              <a:t>Algorithms</a:t>
            </a:r>
            <a:r>
              <a:rPr lang="tr-TR" dirty="0"/>
              <a:t>: </a:t>
            </a:r>
            <a:r>
              <a:rPr lang="tr-TR" dirty="0" err="1"/>
              <a:t>Unveiling</a:t>
            </a:r>
            <a:r>
              <a:rPr lang="tr-TR" dirty="0"/>
              <a:t> </a:t>
            </a:r>
            <a:r>
              <a:rPr lang="tr-TR" dirty="0" err="1"/>
              <a:t>Audiovisual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Thematic</a:t>
            </a:r>
            <a:r>
              <a:rPr lang="tr-TR" dirty="0"/>
              <a:t> </a:t>
            </a:r>
            <a:r>
              <a:rPr lang="tr-TR" dirty="0" err="1"/>
              <a:t>Markers</a:t>
            </a:r>
            <a:r>
              <a:rPr lang="tr-TR" dirty="0"/>
              <a:t> of </a:t>
            </a:r>
            <a:r>
              <a:rPr lang="tr-TR" dirty="0" err="1"/>
              <a:t>Unsafe</a:t>
            </a:r>
            <a:r>
              <a:rPr lang="tr-TR" dirty="0"/>
              <a:t> Content </a:t>
            </a:r>
            <a:r>
              <a:rPr lang="tr-TR" dirty="0" err="1"/>
              <a:t>Recommended</a:t>
            </a:r>
            <a:r>
              <a:rPr lang="tr-TR" dirty="0"/>
              <a:t>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Children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Teenagers</a:t>
            </a:r>
            <a:r>
              <a:rPr lang="tr-TR" dirty="0"/>
              <a:t>,” </a:t>
            </a:r>
            <a:r>
              <a:rPr lang="tr-TR" dirty="0" err="1"/>
              <a:t>Computers</a:t>
            </a:r>
            <a:r>
              <a:rPr lang="tr-TR" dirty="0"/>
              <a:t> in Human </a:t>
            </a:r>
            <a:r>
              <a:rPr lang="tr-TR" dirty="0" err="1"/>
              <a:t>Behavior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158, 2025.</a:t>
            </a:r>
          </a:p>
          <a:p>
            <a:pPr>
              <a:lnSpc>
                <a:spcPct val="100000"/>
              </a:lnSpc>
            </a:pPr>
            <a:r>
              <a:rPr lang="tr-TR" dirty="0"/>
              <a:t>D. Henderson et al., “YouTube </a:t>
            </a:r>
            <a:r>
              <a:rPr lang="tr-TR" dirty="0" err="1"/>
              <a:t>for</a:t>
            </a:r>
            <a:r>
              <a:rPr lang="tr-TR" dirty="0"/>
              <a:t> Young </a:t>
            </a:r>
            <a:r>
              <a:rPr lang="tr-TR" dirty="0" err="1"/>
              <a:t>Children</a:t>
            </a:r>
            <a:r>
              <a:rPr lang="tr-TR" dirty="0"/>
              <a:t>: </a:t>
            </a:r>
            <a:r>
              <a:rPr lang="tr-TR" dirty="0" err="1"/>
              <a:t>What</a:t>
            </a:r>
            <a:r>
              <a:rPr lang="tr-TR" dirty="0"/>
              <a:t> </a:t>
            </a:r>
            <a:r>
              <a:rPr lang="tr-TR" dirty="0" err="1"/>
              <a:t>Are</a:t>
            </a:r>
            <a:r>
              <a:rPr lang="tr-TR" dirty="0"/>
              <a:t> </a:t>
            </a:r>
            <a:r>
              <a:rPr lang="tr-TR" dirty="0" err="1"/>
              <a:t>Infants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Toddlers</a:t>
            </a:r>
            <a:r>
              <a:rPr lang="tr-TR" dirty="0"/>
              <a:t> </a:t>
            </a:r>
            <a:r>
              <a:rPr lang="tr-TR" dirty="0" err="1"/>
              <a:t>Watching</a:t>
            </a:r>
            <a:r>
              <a:rPr lang="tr-TR" dirty="0"/>
              <a:t> on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Most</a:t>
            </a:r>
            <a:r>
              <a:rPr lang="tr-TR" dirty="0"/>
              <a:t> Popular Video-</a:t>
            </a:r>
            <a:r>
              <a:rPr lang="tr-TR" dirty="0" err="1"/>
              <a:t>Sharing</a:t>
            </a:r>
            <a:r>
              <a:rPr lang="tr-TR" dirty="0"/>
              <a:t> </a:t>
            </a:r>
            <a:r>
              <a:rPr lang="tr-TR" dirty="0" err="1"/>
              <a:t>App</a:t>
            </a:r>
            <a:r>
              <a:rPr lang="tr-TR" dirty="0"/>
              <a:t>?,” </a:t>
            </a:r>
            <a:r>
              <a:rPr lang="tr-TR" dirty="0" err="1"/>
              <a:t>Frontiers</a:t>
            </a:r>
            <a:r>
              <a:rPr lang="tr-TR" dirty="0"/>
              <a:t> in </a:t>
            </a:r>
            <a:r>
              <a:rPr lang="tr-TR" dirty="0" err="1"/>
              <a:t>Developmental</a:t>
            </a:r>
            <a:r>
              <a:rPr lang="tr-TR" dirty="0"/>
              <a:t> </a:t>
            </a:r>
            <a:r>
              <a:rPr lang="tr-TR" dirty="0" err="1"/>
              <a:t>Psychology</a:t>
            </a:r>
            <a:r>
              <a:rPr lang="tr-TR" dirty="0"/>
              <a:t>, </a:t>
            </a:r>
            <a:r>
              <a:rPr lang="tr-TR" dirty="0" err="1"/>
              <a:t>vol</a:t>
            </a:r>
            <a:r>
              <a:rPr lang="tr-TR" dirty="0"/>
              <a:t>. 3, art. 1335922, 2024.</a:t>
            </a:r>
          </a:p>
          <a:p>
            <a:pPr>
              <a:lnSpc>
                <a:spcPct val="100000"/>
              </a:lnSpc>
            </a:pPr>
            <a:r>
              <a:rPr lang="tr-TR" dirty="0"/>
              <a:t>UNICEF </a:t>
            </a:r>
            <a:r>
              <a:rPr lang="tr-TR" dirty="0" err="1"/>
              <a:t>Innocenti</a:t>
            </a:r>
            <a:r>
              <a:rPr lang="tr-TR" dirty="0"/>
              <a:t>, </a:t>
            </a:r>
            <a:r>
              <a:rPr lang="tr-TR" dirty="0" err="1"/>
              <a:t>Childhood</a:t>
            </a:r>
            <a:r>
              <a:rPr lang="tr-TR" dirty="0"/>
              <a:t> in a </a:t>
            </a:r>
            <a:r>
              <a:rPr lang="tr-TR" dirty="0" err="1"/>
              <a:t>Digital</a:t>
            </a:r>
            <a:r>
              <a:rPr lang="tr-TR" dirty="0"/>
              <a:t> World: </a:t>
            </a:r>
            <a:r>
              <a:rPr lang="tr-TR" dirty="0" err="1"/>
              <a:t>Screen</a:t>
            </a:r>
            <a:r>
              <a:rPr lang="tr-TR" dirty="0"/>
              <a:t> Time, </a:t>
            </a:r>
            <a:r>
              <a:rPr lang="tr-TR" dirty="0" err="1"/>
              <a:t>Digital</a:t>
            </a:r>
            <a:r>
              <a:rPr lang="tr-TR" dirty="0"/>
              <a:t> </a:t>
            </a:r>
            <a:r>
              <a:rPr lang="tr-TR" dirty="0" err="1"/>
              <a:t>Skills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Mental</a:t>
            </a:r>
            <a:r>
              <a:rPr lang="tr-TR" dirty="0"/>
              <a:t> </a:t>
            </a:r>
            <a:r>
              <a:rPr lang="tr-TR" dirty="0" err="1"/>
              <a:t>Health</a:t>
            </a:r>
            <a:r>
              <a:rPr lang="tr-TR" dirty="0"/>
              <a:t>, UNICEF, 2025.</a:t>
            </a:r>
          </a:p>
          <a:p>
            <a:pPr>
              <a:lnSpc>
                <a:spcPct val="90000"/>
              </a:lnSpc>
            </a:pPr>
            <a:r>
              <a:rPr lang="tr-TR" dirty="0"/>
              <a:t>Ö. Garip, “Sosyal Medyada Çocuk: Çocuk YouTube Kanalları Örneği,” Akdeniz Üniversitesi Sosyal Bilimler Dergisi, </a:t>
            </a:r>
            <a:r>
              <a:rPr lang="tr-TR" dirty="0" err="1"/>
              <a:t>vol</a:t>
            </a:r>
            <a:r>
              <a:rPr lang="tr-TR" dirty="0"/>
              <a:t>. 14, </a:t>
            </a:r>
            <a:r>
              <a:rPr lang="tr-TR" dirty="0" err="1"/>
              <a:t>no</a:t>
            </a:r>
            <a:r>
              <a:rPr lang="tr-TR" dirty="0"/>
              <a:t>. 2, </a:t>
            </a:r>
            <a:r>
              <a:rPr lang="tr-TR" dirty="0" err="1"/>
              <a:t>pp</a:t>
            </a:r>
            <a:r>
              <a:rPr lang="tr-TR" dirty="0"/>
              <a:t>. 345–368, 2025.</a:t>
            </a:r>
          </a:p>
          <a:p>
            <a:pPr>
              <a:lnSpc>
                <a:spcPct val="90000"/>
              </a:lnSpc>
            </a:pPr>
            <a:r>
              <a:rPr lang="tr-TR" dirty="0"/>
              <a:t>Anonim, “Çocukların Ebeveynleri Tarafından Sosyal Medyada Paylaşılmasına Yönelik Çalışmaların İncelenmesi,” Dijital İletişim ve Çocuk Dergisi, </a:t>
            </a:r>
            <a:r>
              <a:rPr lang="tr-TR" dirty="0" err="1"/>
              <a:t>vol</a:t>
            </a:r>
            <a:r>
              <a:rPr lang="tr-TR" dirty="0"/>
              <a:t>. 3, </a:t>
            </a:r>
            <a:r>
              <a:rPr lang="tr-TR" dirty="0" err="1"/>
              <a:t>no</a:t>
            </a:r>
            <a:r>
              <a:rPr lang="tr-TR" dirty="0"/>
              <a:t>. 1, 2025.</a:t>
            </a:r>
          </a:p>
          <a:p>
            <a:pPr>
              <a:lnSpc>
                <a:spcPct val="100000"/>
              </a:lnSpc>
            </a:pPr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9EF77C5-FC4F-CAF7-2920-CD1F57543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8ECDB-44BB-498C-8D53-FA5481CB7D25}" type="datetime1">
              <a:t>11/2/2025</a:t>
            </a:fld>
            <a:endParaRPr lang="en-US" dirty="0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9A0E834-0860-9077-732C-C430542A3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8CEB02B-CAD1-895B-433B-2D74AA5DA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715539"/>
      </p:ext>
    </p:extLst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Geniş ekran</PresentationFormat>
  <Paragraphs>0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5</vt:i4>
      </vt:variant>
    </vt:vector>
  </HeadingPairs>
  <TitlesOfParts>
    <vt:vector size="6" baseType="lpstr">
      <vt:lpstr>DylanVTI</vt:lpstr>
      <vt:lpstr>Sosyal Medyada Çocuk Güvenliği</vt:lpstr>
      <vt:lpstr>Konu</vt:lpstr>
      <vt:lpstr>Anahtar Kelimeler</vt:lpstr>
      <vt:lpstr>Literatür taraması</vt:lpstr>
      <vt:lpstr>Kaynakça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119</cp:revision>
  <dcterms:created xsi:type="dcterms:W3CDTF">2025-11-02T12:37:33Z</dcterms:created>
  <dcterms:modified xsi:type="dcterms:W3CDTF">2025-11-02T13:05:37Z</dcterms:modified>
</cp:coreProperties>
</file>